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43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32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1086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Vocal Bridge Developer Guide (token generation + LiveKit connect + client actions): https://vocalbridgeai.com (Developer Guide PDF)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Vocal Bridge Developer Guide (real-time voice via WebRTC/LiveKit; client actions via data channel): https://vocalbridgeai.com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Vocal Bridge Developer Guide (server-side token generation; LiveKit connect; tokens expire; client actions topic): https://vocalbridgeai.com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FAEE7-E5D0-6437-5899-E899A7595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428683-6F6A-9F8F-5C17-B7CC773E7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4C311A-5119-D80B-6130-8144663DB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Vocal Bridge Developer Guide (server-side token generation; LiveKit connect; tokens expire; client actions topic): https://vocalbridgeai.com
[/Sources]
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C9BCB6-1C86-5F2A-1001-8629B810BD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990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Vocal Bridge Developer Guide (Client Actions + respond vs notify behavior to prevent feedback loops): https://vocalbridgeai.com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Vocal Bridge CLI (vb logs / vb stats / vb debug): https://pypi.org/project/vocal-bridge/
- Vocal Bridge Developer Guide (token expiry; reconnect by requesting new token): https://vocalbridgeai.com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Vocal Bridge Developer Guide (backend token minting; LiveKit client connect; client actions): https://vocalbridgeai.com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natarajsundar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 err="1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VoiceOps</a:t>
            </a:r>
            <a:r>
              <a:rPr lang="en-US" sz="4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Bridge(Incident Commander)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2331720"/>
            <a:ext cx="106372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incident triage copilot (Vocal Bridge + LiveKit)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3063240"/>
            <a:ext cx="2011680" cy="40233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86968" y="31455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voice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71800" y="3063240"/>
            <a:ext cx="201168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081528" y="31455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actions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66360" y="3063240"/>
            <a:ext cx="2011680" cy="40233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276088" y="31455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069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in ~60 seconds: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4434840"/>
            <a:ext cx="870469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Start Voice Chat → speak incident context</a:t>
            </a:r>
            <a:endParaRPr lang="en-US" sz="1400" dirty="0"/>
          </a:p>
          <a:p>
            <a:pPr>
              <a:buSzPct val="100000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Agent opens runbook + checklist (or reads aloud in voice-only) (or reads aloud in voice-only) + drafts update</a:t>
            </a:r>
            <a:endParaRPr lang="en-US" sz="1400" dirty="0"/>
          </a:p>
          <a:p>
            <a:pPr>
              <a:buSzPct val="100000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Confirm before any write/notify action</a:t>
            </a:r>
            <a:endParaRPr lang="en-US" sz="1400" dirty="0"/>
          </a:p>
          <a:p>
            <a:pPr>
              <a:buSzPct val="100000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End call → post-processing summary</a:t>
            </a:r>
            <a:endParaRPr 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D05E60-140E-9748-BF9A-86D8E1FDE31B}"/>
              </a:ext>
            </a:extLst>
          </p:cNvPr>
          <p:cNvSpPr txBox="1"/>
          <p:nvPr/>
        </p:nvSpPr>
        <p:spPr>
          <a:xfrm>
            <a:off x="1010157" y="5850374"/>
            <a:ext cx="1582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Nataraj Sundar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→ Goals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incidents are chaotic.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VoiceOps Bridge turns a noisy incident bridge into structured, actionable work, safely.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54406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51560" y="2468880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554480" y="24048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926080"/>
            <a:ext cx="4800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 scattered across chat, dashboards, runbooks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updates steal time from debugging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risk of “wrong action” under pressure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Post-incident writeups are slow and incomplete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55080" y="2148840"/>
            <a:ext cx="510235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675120" y="246888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178040" y="2404872"/>
            <a:ext cx="4050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75120" y="2926080"/>
            <a:ext cx="446227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Speak the incident; agent structures the triage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drives UI via client actions (runbook/checklist)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Draft stakeholder update in real time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Guardrails + observability baked in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(high level)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token minting + real-time voice + UI actions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207008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holds the API key and mints short-lived LiveKit tokens; the browser connects and exchanges audio + client actions.</a:t>
            </a:r>
            <a:r>
              <a:rPr dirty="0"/>
              <a:t>
(Phone calls skip the browser token proxy; the same agent runs via the provisioned phone number.)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1078992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pic>
        <p:nvPicPr>
          <p:cNvPr id="10" name="Picture 9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B001DCA3-BDF8-7551-73A1-BAEABEF33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232" y="2008337"/>
            <a:ext cx="6240393" cy="44856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73971-B8D7-E80A-2E74-9B5F888B5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F82BF2E-D6C2-9C43-AD79-313F7E2D5F1C}"/>
              </a:ext>
            </a:extLst>
          </p:cNvPr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20DB8E1-95A0-F692-A38C-9926B5EE0ED7}"/>
              </a:ext>
            </a:extLst>
          </p:cNvPr>
          <p:cNvSpPr/>
          <p:nvPr/>
        </p:nvSpPr>
        <p:spPr>
          <a:xfrm>
            <a:off x="548640" y="1371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(high level)</a:t>
            </a: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14BB876-23C2-9A0E-5E71-B64D3F77E84E}"/>
              </a:ext>
            </a:extLst>
          </p:cNvPr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CCE5F5D-8E30-813E-26D3-EAD1BABD2E78}"/>
              </a:ext>
            </a:extLst>
          </p:cNvPr>
          <p:cNvSpPr/>
          <p:nvPr/>
        </p:nvSpPr>
        <p:spPr>
          <a:xfrm>
            <a:off x="731520" y="82296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token minting + real-time voice + UI actions</a:t>
            </a:r>
            <a:endParaRPr lang="en-US" sz="2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6C0C640-D695-1B51-1DE9-4DE9AAE0CA0C}"/>
              </a:ext>
            </a:extLst>
          </p:cNvPr>
          <p:cNvSpPr/>
          <p:nvPr/>
        </p:nvSpPr>
        <p:spPr>
          <a:xfrm>
            <a:off x="731520" y="1207008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holds the API key and mints short-lived LiveKit tokens; the browser connects and exchanges audio + client actions.</a:t>
            </a:r>
            <a:r>
              <a:rPr dirty="0"/>
              <a:t>
(Phone calls skip the browser token proxy; the same agent runs via the provisioned phone number.)</a:t>
            </a:r>
            <a:endParaRPr lang="en-US" sz="13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52FC794-E46B-55EF-CE6C-40493540F247}"/>
              </a:ext>
            </a:extLst>
          </p:cNvPr>
          <p:cNvSpPr/>
          <p:nvPr/>
        </p:nvSpPr>
        <p:spPr>
          <a:xfrm>
            <a:off x="731520" y="1783080"/>
            <a:ext cx="1078992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BA3F6E-8BD3-2102-2280-D8590A38F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556" y="2094990"/>
            <a:ext cx="6326805" cy="417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299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boundaries (guardrails)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UI control — without dangerous surprises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56235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5156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rules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148840"/>
            <a:ext cx="5166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 of agent→app actions (navigate, open_runbook, show_checklist, draft_update)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 confirmation for any “write” (notify stakeholders, create ticket)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validation: size limits, URL allowlist, schema checks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actions to prevent UI spam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37960" y="1508760"/>
            <a:ext cx="49834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858000" y="1737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feedback loops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0" y="21488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→ Agent events are tagged with behavior: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0" y="2560320"/>
            <a:ext cx="448056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086600" y="269748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respond: agent replies immediately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notify: silent context only (no immediate reply)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6858000" y="3886200"/>
            <a:ext cx="44805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notify for UI telemetry (button_clicked, data_loaded)</a:t>
            </a:r>
            <a:endParaRPr lang="en-US" sz="1280" dirty="0"/>
          </a:p>
          <a:p>
            <a:pPr marL="228600" indent="-228600">
              <a:buSzPct val="100000"/>
              <a:buChar char="•"/>
            </a:pPr>
            <a:r>
              <a:rPr lang="en-US" sz="12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respond only when you want the agent to speak</a:t>
            </a:r>
            <a:endParaRPr lang="en-US" sz="1280" dirty="0"/>
          </a:p>
          <a:p>
            <a:pPr marL="228600" indent="-228600">
              <a:buSzPct val="100000"/>
              <a:buChar char="•"/>
            </a:pPr>
            <a:r>
              <a:rPr lang="en-US" sz="12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“agent action → client event → agent reply → …” loops</a:t>
            </a:r>
            <a:endParaRPr lang="en-US" sz="12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+ failure handling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 like production: debug, measure, recover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56235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51560" y="1828800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554480" y="17647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290" y="2298325"/>
            <a:ext cx="4983480" cy="14089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Correlate everything with session_id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vb logs: transcripts + recordings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vb stats: aggregate success/failure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vb debug: live stream (transcripts, tool calls, errors)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metrics: token mint errors, reconnect rate, action reject rate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508760"/>
            <a:ext cx="5102352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675120" y="182880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178040" y="1764792"/>
            <a:ext cx="4050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handling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2286000"/>
            <a:ext cx="4462272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Token failure/expiry → re-mint + reconnect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WebRTC drop → exponential backoff + resume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 permission denied → clear UX + retry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Tool/MCP failure → safe fallback, never block call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“Degraded mode” banner (voice-only if UI actions fail)</a:t>
            </a:r>
            <a:endParaRPr lang="en-US" sz="125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B573CCD6-E89A-6A00-6A2C-853747CE3411}"/>
              </a:ext>
            </a:extLst>
          </p:cNvPr>
          <p:cNvSpPr/>
          <p:nvPr/>
        </p:nvSpPr>
        <p:spPr>
          <a:xfrm>
            <a:off x="932290" y="4253550"/>
            <a:ext cx="4983480" cy="14089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endParaRPr lang="en-US" sz="1250" dirty="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5258272D-64EB-84BC-1666-358147591906}"/>
              </a:ext>
            </a:extLst>
          </p:cNvPr>
          <p:cNvSpPr/>
          <p:nvPr/>
        </p:nvSpPr>
        <p:spPr>
          <a:xfrm>
            <a:off x="1042416" y="3707296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ED7C79EB-C51A-A8CF-7F74-D2DF0FE46B62}"/>
              </a:ext>
            </a:extLst>
          </p:cNvPr>
          <p:cNvSpPr/>
          <p:nvPr/>
        </p:nvSpPr>
        <p:spPr>
          <a:xfrm>
            <a:off x="1554480" y="369775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Obfuscation</a:t>
            </a:r>
            <a:endParaRPr lang="en-US" sz="1600" dirty="0"/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F55BFAD3-8D35-05A3-EF77-24417B017FF9}"/>
              </a:ext>
            </a:extLst>
          </p:cNvPr>
          <p:cNvSpPr/>
          <p:nvPr/>
        </p:nvSpPr>
        <p:spPr>
          <a:xfrm>
            <a:off x="6775704" y="385842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DFBF23FB-D7A6-4532-647B-88A60029993B}"/>
              </a:ext>
            </a:extLst>
          </p:cNvPr>
          <p:cNvSpPr/>
          <p:nvPr/>
        </p:nvSpPr>
        <p:spPr>
          <a:xfrm>
            <a:off x="7232904" y="3858028"/>
            <a:ext cx="4050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Moderation</a:t>
            </a:r>
            <a:endParaRPr lang="en-US" sz="1600" dirty="0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16F5F094-FD66-0424-4801-B3A4FDAFB5BA}"/>
              </a:ext>
            </a:extLst>
          </p:cNvPr>
          <p:cNvSpPr/>
          <p:nvPr/>
        </p:nvSpPr>
        <p:spPr>
          <a:xfrm>
            <a:off x="1032476" y="4953464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62E9D523-CAF4-0C99-BE09-E0967C918ACC}"/>
              </a:ext>
            </a:extLst>
          </p:cNvPr>
          <p:cNvSpPr/>
          <p:nvPr/>
        </p:nvSpPr>
        <p:spPr>
          <a:xfrm>
            <a:off x="1544540" y="494392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and Privacy</a:t>
            </a:r>
            <a:endParaRPr lang="en-US" sz="1600" dirty="0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BAB683FA-28A9-EB0E-E302-36BB1E9A2178}"/>
              </a:ext>
            </a:extLst>
          </p:cNvPr>
          <p:cNvSpPr/>
          <p:nvPr/>
        </p:nvSpPr>
        <p:spPr>
          <a:xfrm>
            <a:off x="6775704" y="490998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AAAE0D2-C265-9D66-664D-D38D43190386}"/>
              </a:ext>
            </a:extLst>
          </p:cNvPr>
          <p:cNvSpPr/>
          <p:nvPr/>
        </p:nvSpPr>
        <p:spPr>
          <a:xfrm>
            <a:off x="7232904" y="4909588"/>
            <a:ext cx="4050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Boundaries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will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69037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51560" y="1737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90-second flow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14884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“Start Voice Chat” (browser connects via LiveKit token minted by backend)</a:t>
            </a:r>
            <a:endParaRPr lang="en-US" sz="1320" dirty="0"/>
          </a:p>
          <a:p>
            <a:pPr marL="228600" indent="-228600">
              <a:buSzPct val="100000"/>
              <a:buChar char="•"/>
            </a:pPr>
            <a:r>
              <a:rPr lang="en-US" sz="13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“Elevated 5xx on checkout — start triage.”</a:t>
            </a:r>
            <a:endParaRPr lang="en-US" sz="1320" dirty="0"/>
          </a:p>
          <a:p>
            <a:pPr marL="228600" indent="-228600">
              <a:buSzPct val="100000"/>
              <a:buChar char="•"/>
            </a:pPr>
            <a:r>
              <a:rPr lang="en-US" sz="13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triggers UI: opens runbook + checklist (or reads aloud in voice-only) (or reads aloud in voice-only); begins a timeline</a:t>
            </a:r>
            <a:endParaRPr lang="en-US" sz="1320" dirty="0"/>
          </a:p>
          <a:p>
            <a:pPr marL="228600" indent="-228600">
              <a:buSzPct val="100000"/>
              <a:buChar char="•"/>
            </a:pPr>
            <a:r>
              <a:rPr lang="en-US" sz="13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“Give me a Slack-ready update.” → it drafts and reads it aloud</a:t>
            </a:r>
            <a:endParaRPr lang="en-US" sz="1320" dirty="0"/>
          </a:p>
          <a:p>
            <a:pPr marL="228600" indent="-228600">
              <a:buSzPct val="100000"/>
              <a:buChar char="•"/>
            </a:pPr>
            <a:r>
              <a:rPr lang="en-US" sz="13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“Notify stakeholders.” → confirmation gate triggers (requires explicit 'confirm') (requires explicit 'confirm')</a:t>
            </a:r>
            <a:endParaRPr lang="en-US" sz="1320" dirty="0"/>
          </a:p>
          <a:p>
            <a:pPr marL="228600" indent="-228600">
              <a:buSzPct val="100000"/>
              <a:buChar char="•"/>
            </a:pPr>
            <a:r>
              <a:rPr lang="en-US" sz="13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call → optional post-processing summary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7818120" y="1508760"/>
            <a:ext cx="3685032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138160" y="1737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+ docs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0" y="214884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design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Decision boundaries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Observability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Failure handling</a:t>
            </a:r>
            <a:endParaRPr lang="en-US" sz="1280" dirty="0"/>
          </a:p>
          <a:p>
            <a:r>
              <a:rPr lang="en-US" sz="12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Presentation</a:t>
            </a:r>
            <a:endParaRPr lang="en-US" sz="1280" dirty="0"/>
          </a:p>
          <a:p>
            <a:pPr marL="0" indent="0">
              <a:buNone/>
            </a:pPr>
            <a:endParaRPr lang="en-US" sz="1280" dirty="0"/>
          </a:p>
          <a:p>
            <a:pPr marL="0" indent="0">
              <a:buNone/>
            </a:pPr>
            <a:r>
              <a:rPr lang="en-US" sz="128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</a:t>
            </a:r>
            <a:r>
              <a:rPr lang="en-US" sz="12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28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natsundar</a:t>
            </a:r>
            <a:r>
              <a:rPr lang="en-US" sz="12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28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voiceops</a:t>
            </a:r>
            <a:r>
              <a:rPr lang="en-US" sz="12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-bridge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8138160" y="5257800"/>
            <a:ext cx="310896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321040" y="539496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pitch:</a:t>
            </a:r>
            <a:endParaRPr lang="en-US" sz="1250" dirty="0"/>
          </a:p>
          <a:p>
            <a:pPr marL="0" indent="0">
              <a:buNone/>
            </a:pPr>
            <a:r>
              <a:rPr lang="en-US" sz="1250" i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“Voice agent that runs the incident bridge, not just listens.”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964</Words>
  <Application>Microsoft Macintosh PowerPoint</Application>
  <PresentationFormat>Widescreen</PresentationFormat>
  <Paragraphs>96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Nataraj Sundar</dc:creator>
  <cp:lastModifiedBy>Sundar, Nataraj</cp:lastModifiedBy>
  <cp:revision>3</cp:revision>
  <dcterms:created xsi:type="dcterms:W3CDTF">2026-01-31T03:27:33Z</dcterms:created>
  <dcterms:modified xsi:type="dcterms:W3CDTF">2026-01-31T23:46:23Z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0e0d917-7892-4efb-a17c-ada485407a89_Enabled">
    <vt:lpwstr>true</vt:lpwstr>
  </property>
  <property fmtid="{D5CDD505-2E9C-101B-9397-08002B2CF9AE}" pid="3" name="MSIP_Label_70e0d917-7892-4efb-a17c-ada485407a89_SetDate">
    <vt:lpwstr>2026-01-31T17:35:32Z</vt:lpwstr>
  </property>
  <property fmtid="{D5CDD505-2E9C-101B-9397-08002B2CF9AE}" pid="4" name="MSIP_Label_70e0d917-7892-4efb-a17c-ada485407a89_Method">
    <vt:lpwstr>Standard</vt:lpwstr>
  </property>
  <property fmtid="{D5CDD505-2E9C-101B-9397-08002B2CF9AE}" pid="5" name="MSIP_Label_70e0d917-7892-4efb-a17c-ada485407a89_Name">
    <vt:lpwstr>Business</vt:lpwstr>
  </property>
  <property fmtid="{D5CDD505-2E9C-101B-9397-08002B2CF9AE}" pid="6" name="MSIP_Label_70e0d917-7892-4efb-a17c-ada485407a89_SiteId">
    <vt:lpwstr>46326bff-9928-41a0-baca-17c16c94ea99</vt:lpwstr>
  </property>
  <property fmtid="{D5CDD505-2E9C-101B-9397-08002B2CF9AE}" pid="7" name="MSIP_Label_70e0d917-7892-4efb-a17c-ada485407a89_ActionId">
    <vt:lpwstr>f82d2324-b08b-40b9-8768-9bb8bc10305a</vt:lpwstr>
  </property>
  <property fmtid="{D5CDD505-2E9C-101B-9397-08002B2CF9AE}" pid="8" name="MSIP_Label_70e0d917-7892-4efb-a17c-ada485407a89_ContentBits">
    <vt:lpwstr>0</vt:lpwstr>
  </property>
  <property fmtid="{D5CDD505-2E9C-101B-9397-08002B2CF9AE}" pid="9" name="MSIP_Label_70e0d917-7892-4efb-a17c-ada485407a89_Tag">
    <vt:lpwstr>50, 3, 0, 1</vt:lpwstr>
  </property>
</Properties>
</file>